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ed91c15b89451b" /><Relationship Type="http://schemas.openxmlformats.org/officeDocument/2006/relationships/extended-properties" Target="/docProps/app.xml" Id="R1a64cb2ee3d1429b" /><Relationship Type="http://schemas.openxmlformats.org/officeDocument/2006/relationships/officeDocument" Target="/ppt/presentation.xml" Id="R357aba72349b41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ec975b919c4000"/>
  </p:sldMasterIdLst>
  <p:notesMasterIdLst>
    <p:notesMasterId xmlns:r="http://schemas.openxmlformats.org/officeDocument/2006/relationships" r:id="R80d25675652d46a9"/>
  </p:notesMasterIdLst>
  <p:sldIdLst>
    <p:sldId xmlns:r="http://schemas.openxmlformats.org/officeDocument/2006/relationships" id="256" r:id="R293b46f1871f46b8"/>
  </p:sldIdLst>
  <p:sldSz cx="9525000" cy="134683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999cc4f5bc41b1" /><Relationship Type="http://schemas.openxmlformats.org/officeDocument/2006/relationships/slideMaster" Target="/ppt/slideMasters/slideMaster1.xml" Id="R90ec975b919c4000" /><Relationship Type="http://schemas.openxmlformats.org/officeDocument/2006/relationships/notesMaster" Target="/ppt/notesMasters/notesMaster1.xml" Id="R80d25675652d46a9" /><Relationship Type="http://schemas.openxmlformats.org/officeDocument/2006/relationships/presProps" Target="/ppt/presProps.xml" Id="R94d93b1bfed04ab9" /><Relationship Type="http://schemas.openxmlformats.org/officeDocument/2006/relationships/viewProps" Target="/ppt/viewProps.xml" Id="R523910479ed6460f" /><Relationship Type="http://schemas.openxmlformats.org/officeDocument/2006/relationships/tableStyles" Target="/ppt/tableStyles.xml" Id="R5a009d9c1ec64dad" /><Relationship Type="http://schemas.openxmlformats.org/officeDocument/2006/relationships/slide" Target="/ppt/slides/slide1.xml" Id="R293b46f1871f46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f77083f0c944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83f1df3d574cb2" /><Relationship Type="http://schemas.openxmlformats.org/officeDocument/2006/relationships/notesMaster" Target="/ppt/notesMasters/notesMaster1.xml" Id="R208e29fb74374e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ea40d1b0e94e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57c3dc2fe14d3e" /><Relationship Type="http://schemas.openxmlformats.org/officeDocument/2006/relationships/slideLayout" Target="/ppt/slideLayouts/slideLayout1.xml" Id="Ra2b82a4c802d43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b82a4c802d43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da0caa04e4610" /><Relationship Type="http://schemas.openxmlformats.org/officeDocument/2006/relationships/notesSlide" Target="/ppt/notesSlides/notesSlide1.xml" Id="Rd31f58e2e88d47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0BA4E3-AEEA-4988-8DEA-A9200519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1346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8252C-A19E-47B6-B196-1125DE15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610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36E0A-D2B7-4E05-B4B2-806A8454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61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D3F1D-111E-4694-AD37-384E613F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CineScope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6B4CA-0180-47A6-A6BF-26DB93BE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33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电影数据检索、分析与推荐系统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DE83D-4FF8-4BDD-BD31-93047AF2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600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以 MovieLens / TMDb / IMDb 清洗数据为基础，将内容相似度、协同过滤与 Agent/RAG 编排整合为可运行的课程项目。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9381A-176C-49FC-A5F1-7B716989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47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40" b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React + FastAPI + scikit-learn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5C67A-064D-465B-85EE-10F59FED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10490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A2D2B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8A2D2B"/>
                </a:solidFill>
                <a:latin typeface="Consolas"/>
                <a:ea typeface="Consolas"/>
                <a:cs typeface="Consolas"/>
              </a:rPr>
              <a:t>client:5173 -&gt; server:8000 -&gt; recommender:3000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160A2-2DF4-443B-80C6-D9030E7E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1EACC-0BCB-4E5E-AF1B-06F837C6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D8806-48EA-47AC-B2B5-0F34A5B5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38325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9,727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15367-AF06-4437-B787-D97D54B5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110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8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movies with TMDb detail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5EF3A-1EE1-415C-A805-8FAA270A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752600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A564E-A52D-46E4-875A-7D6CC820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7526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685D7-733F-4AB1-878D-C3E1309A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838325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5F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F5F8F"/>
                </a:solidFill>
                <a:latin typeface="Times New Roman"/>
                <a:ea typeface="Times New Roman"/>
                <a:cs typeface="Times New Roman"/>
              </a:rPr>
              <a:t>610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A87C7-1347-4901-A653-D1D67797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9550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8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users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7293B-E2E7-4801-842D-4B5B4C10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260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EE572-698A-4098-8C58-0F5B6E33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26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2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F3642-8CDC-4E1F-894C-24143BE1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38325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rPr>
              <a:t>100,811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40AC4-69A4-4796-AD26-929A4750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95500"/>
            <a:ext cx="110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8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ratings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8D7C6-B583-436E-91E4-6B3F557F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E92CEE-416E-490C-A54F-77B6A5BD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7D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B662F-A910-44E2-A7AB-748BACA9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38325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47D1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A47D1C"/>
                </a:solidFill>
                <a:latin typeface="Times New Roman"/>
                <a:ea typeface="Times New Roman"/>
                <a:cs typeface="Times New Roman"/>
              </a:rPr>
              <a:t>3,678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F479E5-E344-4543-BA50-563138CA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9550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8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tags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A61C85-794F-4E61-9DD5-89B2C50C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5260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6B6B6D-F904-4213-B307-6905349A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5260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D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A1389F-A4D8-480D-92AD-D1C258DE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3832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E7D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4E7D5A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0EB90C-94C7-4C9B-B469-028464E7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8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genres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D4C042-51EE-4134-AC16-7D529D0E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5260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23BD4E-B436-4265-8B0A-C05BBD12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5260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498D42-D500-404A-86E8-4839D735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3832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3.50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2A8ADC-5350-467A-996D-262F5D2D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8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mean rating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BB0D60-7827-4ED8-9C1D-205BDA56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34BEDF-4E76-444B-96EE-ECBBB4C8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0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FFC54B-44E4-4CD5-BBF9-F9DC093C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3832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7508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675084"/>
                </a:solidFill>
                <a:latin typeface="Times New Roman"/>
                <a:ea typeface="Times New Roman"/>
                <a:cs typeface="Times New Roman"/>
              </a:rPr>
              <a:t>35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8F68B7-0FD0-4AEE-8C34-E0897ECF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8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missing overview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C7A3D8-9251-4EDA-8C3E-5A68FBBA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CE1793-CF84-49EF-9ACB-514B010A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3695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数据处理链路与质量边界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A3F2CF-0688-42EC-9964-8FBBC93B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019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8CFFAC-5728-4F13-8565-D1AB7847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数据先完成 TMDb/IMDb 匹配、字段规范化和质量筛选，再作为检索、可视化、推荐与 RAG 的共同底座。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3BB021-00B7-4D7E-BAF9-4F310F01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838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4E7D5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50E051-E935-4D4A-8185-B9350D45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D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B2AC59-C1D5-44C6-8A9C-2BE14DEC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685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raw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621AAB-56F2-4A5C-937E-D1585E34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movies / ratings / tags</a:t>
            </a:r>
          </a:p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TMDb / IMDb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281152-E3C6-4361-86B7-FF46EF7B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DFA92E-0544-45D2-A409-1E296E5D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402D14-095B-481E-AACC-09ACBC9E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05200"/>
            <a:ext cx="628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clean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944357-675F-4B9E-AF6D-1C793763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957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title / year</a:t>
            </a:r>
          </a:p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id alignment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AA202C-B1BD-41A6-9777-971CFE43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29000"/>
            <a:ext cx="838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A47D1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BBE7E8-C547-425F-B80F-0AE90744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290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7D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02FADA-E967-40AC-BF91-8C546F82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05200"/>
            <a:ext cx="685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enrich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1094AF-29D3-467A-B1BB-9D158B1C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957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overview / posters</a:t>
            </a:r>
          </a:p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budget / revenue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A9AB0B-5447-48F0-BC3D-8FED074C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29000"/>
            <a:ext cx="876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8A2D2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439B2F-8E4E-46FA-B08F-069AAD4A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2900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2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15BB0E-E89E-4189-B909-7C4B0677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05200"/>
            <a:ext cx="723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final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AFCA724-1747-4443-9FB6-9F937E57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9570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movies.csv</a:t>
            </a:r>
          </a:p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quality report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7B7CE2-0F15-4CEE-94F9-E5DECF68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2286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6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26CC8F-2596-41AC-86E6-AE44D8AF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576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rPr>
              <a:t>&gt;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0ABEE4-E29A-450B-AF4D-E6FFAA8E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2286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6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6B370D-164E-4BD5-85B0-3CA5737F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576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rPr>
              <a:t>&gt;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685DD75-716C-42DC-BA51-7FBE3441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33800"/>
            <a:ext cx="2286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6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B147CB-1EF0-476A-9F33-4B0970AE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576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rPr>
              <a:t>&gt;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EC14BB2-53C1-4EA7-AA3B-47A68FA4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1924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DA73B0-35C7-44BF-A331-6D75BCC8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质量记录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29084C5-F9E9-4FBB-9D01-671DF847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07480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source movies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F47298F-AC40-4F30-A29D-8E98BD1F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501" y="4552950"/>
            <a:ext cx="65874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9,742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A214092-10A7-469D-8952-46EEEFFE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73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BFE2DEE-8FF2-4F20-B747-96FEEF0C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7480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final movies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1F45439-C9E2-43AA-A574-C85ADB82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501" y="4762500"/>
            <a:ext cx="65874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9,727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C6CCE98-235D-465B-9922-839A7D16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173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74498B-4D01-4152-A1F7-0AC426DF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07480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poster missing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776975C-83D5-4DBC-8B85-F6B66548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501" y="4972050"/>
            <a:ext cx="65874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9B44F1B-AFA8-4B41-B67E-595E5DFE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173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3F52F69-23CC-4E57-BD86-EF16A24E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10050"/>
            <a:ext cx="1924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DFF8517-63F6-43F8-87FF-0677A2BC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243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类型分布 Top 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997162F-5D37-482C-BE37-8D3BB157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52950"/>
            <a:ext cx="55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Drama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B0A33F6-2B9F-4BF4-A930-684262F2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81525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5C4ABA7-6699-405A-8728-6D7D4F46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81525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46BF977-0096-4ECF-8528-C8C0863A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5295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03" b="0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03" b="0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rPr>
              <a:t>4355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163929B-6DF4-47B2-8309-0A16BE65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51375"/>
            <a:ext cx="55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Comedy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9CAC99F-B4E6-4111-8D19-181D792C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799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55D5FAD-43DD-4682-8A09-5BCFD4CC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79950"/>
            <a:ext cx="689501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D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A0D02C1-56B9-4183-8B46-B67E11D9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51375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03" b="0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03" b="0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rPr>
              <a:t>3753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04391F7-A4B1-433D-BC67-5DA4A545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9800"/>
            <a:ext cx="55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Thriller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211E43F-7EF3-4CEB-96EF-E2941EA8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78375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FF2A10-0A22-414D-95D9-4BF51D0E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78375"/>
            <a:ext cx="347414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2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0A98955-2536-465F-A9A8-B91CA82A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74980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03" b="0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03" b="0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rPr>
              <a:t>1891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3A84CF3-1859-46D7-BAA6-264EC8F6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48225"/>
            <a:ext cx="55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C84D7B0-CB71-4BA4-AC10-0D88C7DE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7680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E54E5F5-5FF9-433A-A1EF-C2D1E44E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76800"/>
            <a:ext cx="335656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7D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05D4561-314B-4326-8096-85E142A2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48225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03" b="0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03" b="0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rPr>
              <a:t>1827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0942D9B-C64C-472E-A2A0-0CD2FA7E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46650"/>
            <a:ext cx="55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Romance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2579DBD-3D9D-4221-B0FD-4D6377E4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75225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3975EDC-3936-42CC-8219-7E705AE9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75225"/>
            <a:ext cx="292849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0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3D2FCE2-8ECA-4F73-B643-8E9149CC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94665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03" b="0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03" b="0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rPr>
              <a:t>1594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4D70223-6DFB-4724-9BB0-C2E97099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45075"/>
            <a:ext cx="55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Adventure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9351A64-E825-4E71-ACF9-5C370C53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736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36B77EC-7EE0-464E-BA7F-03868DB3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73650"/>
            <a:ext cx="231671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0654E54-2C9E-42AD-AF1F-98D2AD83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045075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03" b="0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03" b="0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rPr>
              <a:t>1261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1B99129-E6DE-431E-9408-093CD52D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4A3773C-46CC-4AD3-AB65-42E5437E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3695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三种推荐模式的核心逻辑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E7AEB6B-49BD-4AFF-8554-08FA2BBD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4019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A914055-341D-4673-BA3F-9D8B8F6C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401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前端显示三种模式；前两种由 recommender 微服务执行，Agent-ready 属于 server 层编排模式。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5F8A134-A535-4875-B4EE-88FF7312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4019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14EF0BA-8CF8-4757-BC74-C4165B17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401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2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6725208-0B16-4CC1-9E03-B055C64A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rPr>
              <a:t>Content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4ED282C-406C-42EC-93BC-0392B783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6270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seedMovieName required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ED22BE7-A0DF-4DEF-9C57-16F4CC03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666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rPr>
              <a:t>features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A4E00D6-B704-4897-875E-DD0E1423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619875"/>
            <a:ext cx="3028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title + overview; genres + tags + language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B97EF8D-CF1A-4D4A-B0ED-F016C92A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66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3F96FE4-ED5A-4A2F-B3F8-5A063D48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791325"/>
            <a:ext cx="3028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char_wb TF-IDF(2-4) + CountVectorizer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C775D7D-45C7-49C4-9966-E62AD531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62775"/>
            <a:ext cx="666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rPr>
              <a:t>score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B0D2CF7-1FD4-40C9-BCF5-8BA576D1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962775"/>
            <a:ext cx="3028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.55 * norm(cos TF-IDF) + .45 * norm(cos Count)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218E9CD-A753-408E-AB78-B13732AD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34225"/>
            <a:ext cx="666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rPr>
              <a:t>output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25847D5-AF81-48CC-AB41-2DE553D1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134225"/>
            <a:ext cx="3028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exclude seed; sort topK; src=content_based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AA7E6FB-52C5-4274-A14B-0A7DD47E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86650"/>
            <a:ext cx="4019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3CB4877-2199-4B68-AD73-66425B8C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86650"/>
            <a:ext cx="401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BA87C6F-0905-44DD-ADBF-BD7196D9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914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2F5F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5" b="1">
                <a:solidFill>
                  <a:srgbClr val="2F5F8F"/>
                </a:solidFill>
                <a:latin typeface="Times New Roman"/>
                <a:ea typeface="Times New Roman"/>
                <a:cs typeface="Times New Roman"/>
              </a:rPr>
              <a:t>Collaborative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F5522E9-2919-4712-920B-FB37A06E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60095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userId required; seed optional; neighbor_k=10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5107CEA-3162-4864-8E42-4E8ECE7D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58125"/>
            <a:ext cx="666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F5F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" b="1">
                <a:solidFill>
                  <a:srgbClr val="2F5F8F"/>
                </a:solidFill>
                <a:latin typeface="Times New Roman"/>
                <a:ea typeface="Times New Roman"/>
                <a:cs typeface="Times New Roman"/>
              </a:rPr>
              <a:t>matrix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A25198E-B027-4D04-8773-DD412A15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858125"/>
            <a:ext cx="3028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movie_user_matrix and user_movie_matrix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7B4C8F2-3A14-449A-B049-CC3E0D59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9575"/>
            <a:ext cx="666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F5F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" b="1">
                <a:solidFill>
                  <a:srgbClr val="2F5F8F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CC69D36-A769-4839-8EDA-D48E3F3E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8029575"/>
            <a:ext cx="3028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item KNN + user KNN with cosine distance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47D4608-47E7-409E-A221-2BA2ED30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01025"/>
            <a:ext cx="666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F5F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" b="1">
                <a:solidFill>
                  <a:srgbClr val="2F5F8F"/>
                </a:solidFill>
                <a:latin typeface="Times New Roman"/>
                <a:ea typeface="Times New Roman"/>
                <a:cs typeface="Times New Roman"/>
              </a:rPr>
              <a:t>score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9E235BD-75DC-4024-B416-D30C3116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8201025"/>
            <a:ext cx="3028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.4 * item + .6 * user when seed exists; otherwise user-only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C01A4C6-C8E1-45DD-8163-1B20C6BB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72475"/>
            <a:ext cx="666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F5F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" b="1">
                <a:solidFill>
                  <a:srgbClr val="2F5F8F"/>
                </a:solidFill>
                <a:latin typeface="Times New Roman"/>
                <a:ea typeface="Times New Roman"/>
                <a:cs typeface="Times New Roman"/>
              </a:rPr>
              <a:t>output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D4C8FC2-8216-40AF-A935-9C57ACFD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8372475"/>
            <a:ext cx="3028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exclude rated/input; short results filled by Bayesian popular score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031868E-353A-45F2-ACF6-88C77D1C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24900"/>
            <a:ext cx="4019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DAC108E-B97C-40E6-A0E9-E3327EBC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24900"/>
            <a:ext cx="401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D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3E354DB-FA09-496F-8D48-2AFC92BC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8296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4E7D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5" b="1">
                <a:solidFill>
                  <a:srgbClr val="4E7D5A"/>
                </a:solidFill>
                <a:latin typeface="Times New Roman"/>
                <a:ea typeface="Times New Roman"/>
                <a:cs typeface="Times New Roman"/>
              </a:rPr>
              <a:t>Agent-ready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915320D-65BD-4465-8844-7E534B6F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883920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prompt + seed + userId + topK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524DB4D-6F14-4ECA-8EC3-3D55A785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96375"/>
            <a:ext cx="666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4E7D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" b="1">
                <a:solidFill>
                  <a:srgbClr val="4E7D5A"/>
                </a:solidFill>
                <a:latin typeface="Times New Roman"/>
                <a:ea typeface="Times New Roman"/>
                <a:cs typeface="Times New Roman"/>
              </a:rPr>
              <a:t>planner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13FA7D0-A60C-4424-8E75-C974E772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096375"/>
            <a:ext cx="3028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extract intent, seed, genres, excludes, language, min_rating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68614D4-6D02-402F-BBBF-43DC344C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67825"/>
            <a:ext cx="666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4E7D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" b="1">
                <a:solidFill>
                  <a:srgbClr val="4E7D5A"/>
                </a:solidFill>
                <a:latin typeface="Times New Roman"/>
                <a:ea typeface="Times New Roman"/>
                <a:cs typeface="Times New Roman"/>
              </a:rPr>
              <a:t>route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606B2CF-8667-4F5D-A86A-A475790D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267825"/>
            <a:ext cx="3028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choose content / collaborative / local filtering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4F89C31-2FCD-4C55-BE95-36716ECA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39275"/>
            <a:ext cx="666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4E7D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" b="1">
                <a:solidFill>
                  <a:srgbClr val="4E7D5A"/>
                </a:solidFill>
                <a:latin typeface="Times New Roman"/>
                <a:ea typeface="Times New Roman"/>
                <a:cs typeface="Times New Roman"/>
              </a:rPr>
              <a:t>finish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8435B26-067F-47AA-8846-422704DF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439275"/>
            <a:ext cx="3028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dedupe -&gt; RAG snippets -&gt; DeepSeek reason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C944E8A-D203-4C30-9E56-8D15D4C5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10725"/>
            <a:ext cx="666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4E7D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" b="1">
                <a:solidFill>
                  <a:srgbClr val="4E7D5A"/>
                </a:solidFill>
                <a:latin typeface="Times New Roman"/>
                <a:ea typeface="Times New Roman"/>
                <a:cs typeface="Times New Roman"/>
              </a:rPr>
              <a:t>output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A2034BD-40D6-46B0-974E-DE25B449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610725"/>
            <a:ext cx="3028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requires API key for explanation; src=agent-ready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DB84982-6ED6-43CB-8C11-B3454B7A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39350"/>
            <a:ext cx="4019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D408C7B-2726-4E1E-9236-E0A54016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5365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评分合并与过滤规则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39332FD-726C-406A-9027-063C9B8F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67975"/>
            <a:ext cx="3048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7C708BA-5559-435A-9584-60F1EEDE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20350"/>
            <a:ext cx="3695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6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26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score group 先做 min-max normalize，再按权重求和，避免 TF-IDF / KNN 分数尺度直接混合。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088E579-3B67-4487-B80A-C66B64A0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39425"/>
            <a:ext cx="3048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CF48669-9CD0-4283-9455-7EE0B3DB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591800"/>
            <a:ext cx="3695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6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26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协同过滤过滤用户已评分电影；带 seed 时额外排除输入电影。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47439AF-C188-4EE0-A170-4B4DEC85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10875"/>
            <a:ext cx="3048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9176D93-6327-4FB2-B7D8-3695E443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63250"/>
            <a:ext cx="3695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6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26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Agent 本地兜底按类型、语言、最低评分筛选，再按类型命中数、ratingMean、tmdbPopularity 排序。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7A2BB65-F7CC-4437-9301-809304EC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82325"/>
            <a:ext cx="3048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42EABCE-7CBE-4C6A-BA2D-DA366561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34700"/>
            <a:ext cx="3695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6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26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最终统一返回 RecommendationItem: movie + score + reason + source.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74EB9B8-D371-44CC-BB66-B3956B33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966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7CCC050-2E15-4A2B-A24A-B3D5734B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277600"/>
            <a:ext cx="3695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产物与验证点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D6B0DBE-568F-4AF6-BBA0-C76938CD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63350"/>
            <a:ext cx="4019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5C2FD41-18E4-44A4-9BB1-BD15883C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96700"/>
            <a:ext cx="1943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C1D677F-9B3B-490F-BE3E-9C84435E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离线模型产物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DC9E3DD-59B2-4103-B0D1-68BA7688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777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" b="0">
                <a:solidFill>
                  <a:srgbClr val="8A2D2B"/>
                </a:solidFill>
                <a:latin typeface="Consolas"/>
                <a:ea typeface="Consolas"/>
                <a:cs typeface="Consolas"/>
              </a:defRPr>
            </a:pPr>
            <a:r>
              <a:rPr sz="555" b="0">
                <a:solidFill>
                  <a:srgbClr val="8A2D2B"/>
                </a:solidFill>
                <a:latin typeface="Consolas"/>
                <a:ea typeface="Consolas"/>
                <a:cs typeface="Consolas"/>
              </a:rPr>
              <a:t>content: tfidf/count vectorizers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22A2A5E-D00D-4CB1-B093-82D4A93C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49150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" b="0">
                <a:solidFill>
                  <a:srgbClr val="23262A"/>
                </a:solidFill>
                <a:latin typeface="Consolas"/>
                <a:ea typeface="Consolas"/>
                <a:cs typeface="Consolas"/>
              </a:defRPr>
            </a:pPr>
            <a:r>
              <a:rPr sz="555" b="0">
                <a:solidFill>
                  <a:srgbClr val="23262A"/>
                </a:solidFill>
                <a:latin typeface="Consolas"/>
                <a:ea typeface="Consolas"/>
                <a:cs typeface="Consolas"/>
              </a:rPr>
              <a:t>overview_matrix + content_matrix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46A02C0-FE67-466E-837E-3C2DA17A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458700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" b="0">
                <a:solidFill>
                  <a:srgbClr val="2F5F8F"/>
                </a:solidFill>
                <a:latin typeface="Consolas"/>
                <a:ea typeface="Consolas"/>
                <a:cs typeface="Consolas"/>
              </a:defRPr>
            </a:pPr>
            <a:r>
              <a:rPr sz="555" b="0">
                <a:solidFill>
                  <a:srgbClr val="2F5F8F"/>
                </a:solidFill>
                <a:latin typeface="Consolas"/>
                <a:ea typeface="Consolas"/>
                <a:cs typeface="Consolas"/>
              </a:rPr>
              <a:t>collaborative: movie/user matrices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15DD232-BCD2-43FF-87E9-ABB64DBF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30150"/>
            <a:ext cx="152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" b="0">
                <a:solidFill>
                  <a:srgbClr val="23262A"/>
                </a:solidFill>
                <a:latin typeface="Consolas"/>
                <a:ea typeface="Consolas"/>
                <a:cs typeface="Consolas"/>
              </a:defRPr>
            </a:pPr>
            <a:r>
              <a:rPr sz="555" b="0">
                <a:solidFill>
                  <a:srgbClr val="23262A"/>
                </a:solidFill>
                <a:latin typeface="Consolas"/>
                <a:ea typeface="Consolas"/>
                <a:cs typeface="Consolas"/>
              </a:rPr>
              <a:t>movie_knn + user_knn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7AECD1E-F67C-47B0-BF23-35F9F0A5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1696700"/>
            <a:ext cx="1943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C018732-571A-43A9-98DC-4F8B5E21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18110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检查与改进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A0D9547-7A11-4C0D-AF92-F4108F67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2125325"/>
            <a:ext cx="3048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EF28940-E7C9-4A58-9DA4-85F8134F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2077700"/>
            <a:ext cx="1638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3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/health 检查 artifacts_ready；缺失产物时返回 503。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6886D1F-5647-4088-8F8E-299A73E3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2306300"/>
            <a:ext cx="3048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82C27ABB-70E3-4A25-8204-478369F6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2258675"/>
            <a:ext cx="1638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3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推荐链路需同时启动 3000 与 8000。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F3C70F7-78DC-4944-8B0A-BD372AF9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2487275"/>
            <a:ext cx="3048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64D64B5C-3172-4089-B988-4DF2BC7A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2439650"/>
            <a:ext cx="1638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3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Agent 输出依赖 DeepSeek Key。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D37FFAF-0D39-409C-A131-5BABEB18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2668250"/>
            <a:ext cx="3048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1645AB7-0942-46D7-8FDE-26D981DA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2620625"/>
            <a:ext cx="1638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3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后续可补充 NDCG 与演员、导演、关键词特征。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DA3DD6C-941B-4AE6-807E-1AD6E3B0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908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2C62FF2D-C4DA-45D0-B0AE-648772B8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3695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在线架构与请求路由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231EDC4-56AC-4D36-9082-92FD9999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4019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D9AF5FA2-9C52-4EB3-9DCC-F9A72164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1104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4E7D5A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ACE431EB-2986-45FB-9786-0F5210C7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110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D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E11B9283-9FB4-41D6-8DEC-998C26A7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43250"/>
            <a:ext cx="952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client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96E85B2-C1AA-4958-A0C5-FA0F9CEC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337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React + Vite</a:t>
            </a:r>
          </a:p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mode selector</a:t>
            </a:r>
          </a:p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POST /recommendations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1C767CC-B9B0-4A06-87AD-A901C8AC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1104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30A6854-A527-4CDC-B60B-C04439A6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110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E6EB84C-54BF-4ADF-A9F5-8B72DEDE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952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server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B1A514F5-CEAC-4982-B2BA-A37B0D11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FastAPI :8000</a:t>
            </a:r>
          </a:p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schemas / mappers</a:t>
            </a:r>
          </a:p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RAG / Agent / proxy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B0A8078-832A-4EBF-AEB0-4A0C381E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67050"/>
            <a:ext cx="1104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8A2D2B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AFCBFE6-C22A-432F-B733-7D7C8796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67050"/>
            <a:ext cx="110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2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EB6A230-D94E-4B86-94EE-93203068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43250"/>
            <a:ext cx="952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recommender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ED1B220-F93E-417D-9E15-52D4EC26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FastAPI :3000</a:t>
            </a:r>
          </a:p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/content</a:t>
            </a:r>
          </a:p>
          <a:p xmlns:a="http://schemas.openxmlformats.org/drawingml/2006/main">
            <a:pPr algn="l">
              <a:def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/collaborative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6327429-62ED-4B45-AEEA-12E56673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90900"/>
            <a:ext cx="361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6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3C239C00-5C74-4310-8311-2D9274DC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147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rPr>
              <a:t>&gt;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DC7CFCB-74D6-401C-937E-9D780DA0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90900"/>
            <a:ext cx="3429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6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F9813F1-A391-4CB2-AF01-A30E1C59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147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rPr>
              <a:t>&gt;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5851FCB-19C7-4A43-90BF-CF2986A6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62400"/>
            <a:ext cx="40195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BDFB485-7709-4352-9D24-E05391BD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7670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路由分流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AC11015-0F00-465A-8EB7-1BE0767F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43400"/>
            <a:ext cx="3714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8A2D2B"/>
                </a:solidFill>
                <a:latin typeface="Consolas"/>
                <a:ea typeface="Consolas"/>
                <a:cs typeface="Consolas"/>
              </a:defRPr>
            </a:pPr>
            <a:r>
              <a:rPr sz="578" b="0">
                <a:solidFill>
                  <a:srgbClr val="8A2D2B"/>
                </a:solidFill>
                <a:latin typeface="Consolas"/>
                <a:ea typeface="Consolas"/>
                <a:cs typeface="Consolas"/>
              </a:rPr>
              <a:t>mode=content       -&gt; GET /recommend/content?movie_name&amp;top_k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427E8D0-AB9C-472E-B393-242DB970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52950"/>
            <a:ext cx="3714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2F5F8F"/>
                </a:solidFill>
                <a:latin typeface="Consolas"/>
                <a:ea typeface="Consolas"/>
                <a:cs typeface="Consolas"/>
              </a:defRPr>
            </a:pPr>
            <a:r>
              <a:rPr sz="578" b="0">
                <a:solidFill>
                  <a:srgbClr val="2F5F8F"/>
                </a:solidFill>
                <a:latin typeface="Consolas"/>
                <a:ea typeface="Consolas"/>
                <a:cs typeface="Consolas"/>
              </a:rPr>
              <a:t>mode=collaborative -&gt; GET /recommend/collaborative?user_id&amp;movie_name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B678BC2-A325-4B28-BD54-03C5F4A9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62500"/>
            <a:ext cx="3714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4E7D5A"/>
                </a:solidFill>
                <a:latin typeface="Consolas"/>
                <a:ea typeface="Consolas"/>
                <a:cs typeface="Consolas"/>
              </a:defRPr>
            </a:pPr>
            <a:r>
              <a:rPr sz="578" b="0">
                <a:solidFill>
                  <a:srgbClr val="4E7D5A"/>
                </a:solidFill>
                <a:latin typeface="Consolas"/>
                <a:ea typeface="Consolas"/>
                <a:cs typeface="Consolas"/>
              </a:rPr>
              <a:t>mode=agent-ready   -&gt; planner + filters + RAG + DeepSeek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5E3F692-A905-40E3-98D0-AE70E974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10150"/>
            <a:ext cx="3790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server 只暴露统一推荐接口；推荐微服务保持算法独立；Agent 逻辑留在 server，避免前端直接理解算法细节。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E53EEAF-097E-40C1-AB6B-F6E665AF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626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0771B3CB-E1BE-4C2F-B336-2FB6FE97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543550"/>
            <a:ext cx="3695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Agent-ready 执行序列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0B52AE11-5932-41B6-BC15-6B9CA674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29300"/>
            <a:ext cx="4019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BAEAE817-2DC5-4949-A761-39377DDC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43600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Agent 不是第三个 recommender 微服务算法，而是统一后端的编排层：先把自然语言转成计划，再调用推荐与检索工具，最后由 LLM 生成解释。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C5491B3D-3B1F-4AD9-8ED8-31F8FA4D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81750"/>
            <a:ext cx="1885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8E78F116-0049-438A-8C81-542C30AB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81750"/>
            <a:ext cx="228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E8C924C2-67EA-47EB-8ABB-36F4926A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579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76F958B-1E58-4431-AB2C-ADB1C0D6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457950"/>
            <a:ext cx="1504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FDE550B-2C26-4D57-9233-E317BBA7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657975"/>
            <a:ext cx="1504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intent / strategy / seed</a:t>
            </a:r>
          </a:p>
          <a:p xmlns:a="http://schemas.openxmlformats.org/drawingml/2006/main">
            <a:pPr algn="l">
              <a:def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genres / excludes / min_rating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4CE7B7B-C270-49C8-975D-69E16173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381750"/>
            <a:ext cx="1885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A2D9D77-9FCC-4844-9D2B-B1F775AB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381750"/>
            <a:ext cx="228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6ADEE33-1240-42B3-85B6-1E76B2AB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4579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8852E70-5300-403D-AE72-7A18E301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457950"/>
            <a:ext cx="1504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Route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2AEACE59-7EB2-417F-8684-BED04710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657975"/>
            <a:ext cx="1504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content if seed</a:t>
            </a:r>
          </a:p>
          <a:p xmlns:a="http://schemas.openxmlformats.org/drawingml/2006/main">
            <a:pPr algn="l">
              <a:def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collaborative if personalized</a:t>
            </a:r>
          </a:p>
          <a:p xmlns:a="http://schemas.openxmlformats.org/drawingml/2006/main">
            <a:pPr algn="l">
              <a:def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local if filters only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78A31B62-7600-4A34-8A80-EB043F49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743700"/>
            <a:ext cx="247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6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54A96C82-7B42-4F6D-959F-2B90CB4A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6675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rPr>
              <a:t>&gt;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0FE36CB5-4E37-41A1-BF24-D15311B4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296150"/>
            <a:ext cx="1885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2E09D27C-B3C5-4185-83C1-2607EC44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296150"/>
            <a:ext cx="228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2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A991D2B2-F65C-4EEA-9338-2CA23B84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3723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26F48C6E-FA87-4A9D-BEF3-8EBB9CC9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372350"/>
            <a:ext cx="1504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Recommend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FB097911-7B8F-42C0-85BA-DC1B5F0E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572375"/>
            <a:ext cx="1504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call recommender or MovieService</a:t>
            </a:r>
          </a:p>
          <a:p xmlns:a="http://schemas.openxmlformats.org/drawingml/2006/main">
            <a:pPr algn="l">
              <a:def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apply agent filters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E5051FE1-66B1-4E41-86C3-64DDBAEE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7296150"/>
            <a:ext cx="1885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215118F-24EF-44FB-BB28-6A9A7540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7296150"/>
            <a:ext cx="228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7D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D688449E-9909-42D3-B61C-2691E8BF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73723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6DC4B048-9A27-4F88-8F52-9144A15D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7372350"/>
            <a:ext cx="1504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Complete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550C3ECA-96BA-4A9D-971C-DB5B036A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7572375"/>
            <a:ext cx="1504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dedupe; if count &lt; topK</a:t>
            </a:r>
          </a:p>
          <a:p xmlns:a="http://schemas.openxmlformats.org/drawingml/2006/main">
            <a:pPr algn="l">
              <a:def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补齐本地候选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DD89BAB2-2EED-4379-8EFB-1DC5C23E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105650"/>
            <a:ext cx="1238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6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FF31CBC-3535-431C-8837-BF13608A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722947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CF0FC75B-5579-48F3-958C-37DA757F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7658100"/>
            <a:ext cx="247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6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A92A1E2-4813-4A4F-9A4F-A559FBD1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5819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rPr>
              <a:t>&gt;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BF6A121-513B-4CE2-9CA6-30432510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210550"/>
            <a:ext cx="1885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EC5479B-A66F-4475-B6AE-6D168909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210550"/>
            <a:ext cx="228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D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8CD8E14-AEE3-4659-9F1E-B4E8CC60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2867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21D74B3-E963-4507-8E00-64345790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8286750"/>
            <a:ext cx="1504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Retrieve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AF3FF069-4D61-43D4-AA46-7E0A3BAD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8486775"/>
            <a:ext cx="1504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build RAG query</a:t>
            </a:r>
          </a:p>
          <a:p xmlns:a="http://schemas.openxmlformats.org/drawingml/2006/main">
            <a:pPr algn="l">
              <a:def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filter excluded genres</a:t>
            </a:r>
          </a:p>
          <a:p xmlns:a="http://schemas.openxmlformats.org/drawingml/2006/main">
            <a:pPr algn="l">
              <a:def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item-level snippets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864D6E9-0FBF-43CC-BEA7-D8AA4E48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8210550"/>
            <a:ext cx="1885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7A50963E-44CE-44AF-B93B-5948AD2C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8210550"/>
            <a:ext cx="228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0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AF1F9B0D-BC97-4F3E-B671-60B79B6D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82867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5A4BB4A1-60C1-49D8-AB7D-576E40BA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8286750"/>
            <a:ext cx="1504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1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Explain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060869F4-BFD9-4182-9482-3E2C3DB7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8486775"/>
            <a:ext cx="1504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DeepSeek summarizes</a:t>
            </a:r>
          </a:p>
          <a:p xmlns:a="http://schemas.openxmlformats.org/drawingml/2006/main">
            <a:pPr algn="l">
              <a:def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compose reason</a:t>
            </a:r>
          </a:p>
          <a:p xmlns:a="http://schemas.openxmlformats.org/drawingml/2006/main">
            <a:pPr algn="l">
              <a:def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5E6672"/>
                </a:solidFill>
                <a:latin typeface="Microsoft YaHei"/>
                <a:ea typeface="Microsoft YaHei"/>
                <a:cs typeface="Microsoft YaHei"/>
              </a:rPr>
              <a:t>source=agent-ready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AF3E635-60AD-4BC3-88F6-661931BE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8020050"/>
            <a:ext cx="1238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6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BC37215B-677A-428E-B4EB-7D816646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814387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FF57512-1153-4A9C-93A4-17EED96E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8572500"/>
            <a:ext cx="247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6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C891CFA9-0630-461B-A181-BBA89E00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84963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rPr>
              <a:t>&gt;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6490891B-39F8-4E28-8329-A3AB08DB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105900"/>
            <a:ext cx="4019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A47D1C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656154CD-00FC-4451-9CDC-9DCAA824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923925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47D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47D1C"/>
                </a:solidFill>
                <a:latin typeface="Microsoft YaHei"/>
                <a:ea typeface="Microsoft YaHei"/>
                <a:cs typeface="Microsoft YaHei"/>
              </a:rPr>
              <a:t>关键运行约束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DE418538-B8F7-49BE-9F87-F459CD30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9534525"/>
            <a:ext cx="3048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7D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8CEFD7C8-75C7-47ED-8FD6-DE01C205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9486900"/>
            <a:ext cx="3695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4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4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DeepSeek Key 未配置时，Agent chat / recommendation 返回 503，而不是静默降级。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805F3CBD-F444-4F25-A61C-51F7B50A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9734550"/>
            <a:ext cx="3048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7D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BD556B54-D793-4759-A091-39778B66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9686925"/>
            <a:ext cx="3695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4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4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recommender artifacts 缺失时，/health 会标记 artifacts_missing，算法接口返回 503。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D587B18D-9407-4B52-A4B3-B3455C8B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9934575"/>
            <a:ext cx="3048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7D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78E4BA1B-97C6-4FDF-B442-D6AD15F5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9886950"/>
            <a:ext cx="3695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4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4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前端默认 userId=1、topK=6；Agent 模式才提交 prompt。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7A79B4BE-A94A-46E5-AA84-2C4872B5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3060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8A2D2B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9CFDBBD8-4BC8-440A-B8C9-31B971AC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0287000"/>
            <a:ext cx="3695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接口契约与产品表面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B7F25FD9-B952-47B6-BC6B-48A70F32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572750"/>
            <a:ext cx="4019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9B1F7D3-5A27-498C-B625-340556B7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725150"/>
            <a:ext cx="19431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EED5E9ED-0E64-4323-B58C-C2C39BB4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8394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RecommendationRequest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01A26D4-0961-4D63-84E0-DFD4F0A0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087100"/>
            <a:ext cx="1676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23262A"/>
                </a:solidFill>
                <a:latin typeface="Consolas"/>
                <a:ea typeface="Consolas"/>
                <a:cs typeface="Consolas"/>
              </a:defRPr>
            </a:pPr>
            <a:r>
              <a:rPr sz="578" b="0">
                <a:solidFill>
                  <a:srgbClr val="23262A"/>
                </a:solidFill>
                <a:latin typeface="Consolas"/>
                <a:ea typeface="Consolas"/>
                <a:cs typeface="Consolas"/>
              </a:rPr>
              <a:t>mode: "content" |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FCE02B65-9F4A-44CE-BD19-F61594F9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0"/>
            <a:ext cx="1676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23262A"/>
                </a:solidFill>
                <a:latin typeface="Consolas"/>
                <a:ea typeface="Consolas"/>
                <a:cs typeface="Consolas"/>
              </a:defRPr>
            </a:pPr>
            <a:r>
              <a:rPr sz="578" b="0">
                <a:solidFill>
                  <a:srgbClr val="23262A"/>
                </a:solidFill>
                <a:latin typeface="Consolas"/>
                <a:ea typeface="Consolas"/>
                <a:cs typeface="Consolas"/>
              </a:rPr>
              <a:t>      "collaborative" |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0791BEE5-5E51-41EB-A2B5-ADC3B092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391900"/>
            <a:ext cx="1676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23262A"/>
                </a:solidFill>
                <a:latin typeface="Consolas"/>
                <a:ea typeface="Consolas"/>
                <a:cs typeface="Consolas"/>
              </a:defRPr>
            </a:pPr>
            <a:r>
              <a:rPr sz="578" b="0">
                <a:solidFill>
                  <a:srgbClr val="23262A"/>
                </a:solidFill>
                <a:latin typeface="Consolas"/>
                <a:ea typeface="Consolas"/>
                <a:cs typeface="Consolas"/>
              </a:rPr>
              <a:t>      "agent-ready"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D2EFAE0B-A411-4B7B-8392-EFE07291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563350"/>
            <a:ext cx="1676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23262A"/>
                </a:solidFill>
                <a:latin typeface="Consolas"/>
                <a:ea typeface="Consolas"/>
                <a:cs typeface="Consolas"/>
              </a:defRPr>
            </a:pPr>
            <a:r>
              <a:rPr sz="578" b="0">
                <a:solidFill>
                  <a:srgbClr val="23262A"/>
                </a:solidFill>
                <a:latin typeface="Consolas"/>
                <a:ea typeface="Consolas"/>
                <a:cs typeface="Consolas"/>
              </a:rPr>
              <a:t>prompt, seedMovieName,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6B848AAB-4FD1-4DD4-9421-3C72A2EE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715750"/>
            <a:ext cx="1676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23262A"/>
                </a:solidFill>
                <a:latin typeface="Consolas"/>
                <a:ea typeface="Consolas"/>
                <a:cs typeface="Consolas"/>
              </a:defRPr>
            </a:pPr>
            <a:r>
              <a:rPr sz="578" b="0">
                <a:solidFill>
                  <a:srgbClr val="23262A"/>
                </a:solidFill>
                <a:latin typeface="Consolas"/>
                <a:ea typeface="Consolas"/>
                <a:cs typeface="Consolas"/>
              </a:rPr>
              <a:t>userId, topK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129D60CD-0055-4B60-90FB-1076AEEA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725150"/>
            <a:ext cx="19431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D4985EC7-30E1-47ED-8B70-591C825C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0839450"/>
            <a:ext cx="1504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RecommendationItem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4DA9ED32-E30A-468E-8CE6-505D1F1C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87100"/>
            <a:ext cx="1581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23262A"/>
                </a:solidFill>
                <a:latin typeface="Consolas"/>
                <a:ea typeface="Consolas"/>
                <a:cs typeface="Consolas"/>
              </a:defRPr>
            </a:pPr>
            <a:r>
              <a:rPr sz="578" b="0">
                <a:solidFill>
                  <a:srgbClr val="23262A"/>
                </a:solidFill>
                <a:latin typeface="Consolas"/>
                <a:ea typeface="Consolas"/>
                <a:cs typeface="Consolas"/>
              </a:rPr>
              <a:t>movie: Movie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B7CF94EB-2B00-4557-B004-E3146A71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239500"/>
            <a:ext cx="1581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23262A"/>
                </a:solidFill>
                <a:latin typeface="Consolas"/>
                <a:ea typeface="Consolas"/>
                <a:cs typeface="Consolas"/>
              </a:defRPr>
            </a:pPr>
            <a:r>
              <a:rPr sz="578" b="0">
                <a:solidFill>
                  <a:srgbClr val="23262A"/>
                </a:solidFill>
                <a:latin typeface="Consolas"/>
                <a:ea typeface="Consolas"/>
                <a:cs typeface="Consolas"/>
              </a:rPr>
              <a:t>score: number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E88F4F7-AADE-4930-9733-425F29D7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391900"/>
            <a:ext cx="1581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23262A"/>
                </a:solidFill>
                <a:latin typeface="Consolas"/>
                <a:ea typeface="Consolas"/>
                <a:cs typeface="Consolas"/>
              </a:defRPr>
            </a:pPr>
            <a:r>
              <a:rPr sz="578" b="0">
                <a:solidFill>
                  <a:srgbClr val="23262A"/>
                </a:solidFill>
                <a:latin typeface="Consolas"/>
                <a:ea typeface="Consolas"/>
                <a:cs typeface="Consolas"/>
              </a:rPr>
              <a:t>reason: string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8B788FD5-8168-4F99-B45F-E7E86F41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563350"/>
            <a:ext cx="1581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23262A"/>
                </a:solidFill>
                <a:latin typeface="Consolas"/>
                <a:ea typeface="Consolas"/>
                <a:cs typeface="Consolas"/>
              </a:defRPr>
            </a:pPr>
            <a:r>
              <a:rPr sz="578" b="0">
                <a:solidFill>
                  <a:srgbClr val="23262A"/>
                </a:solidFill>
                <a:latin typeface="Consolas"/>
                <a:ea typeface="Consolas"/>
                <a:cs typeface="Consolas"/>
              </a:rPr>
              <a:t>source: content |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1B2C317E-F7D8-4760-A9B9-F5A60457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715750"/>
            <a:ext cx="1581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23262A"/>
                </a:solidFill>
                <a:latin typeface="Consolas"/>
                <a:ea typeface="Consolas"/>
                <a:cs typeface="Consolas"/>
              </a:defRPr>
            </a:pPr>
            <a:r>
              <a:rPr sz="578" b="0">
                <a:solidFill>
                  <a:srgbClr val="23262A"/>
                </a:solidFill>
                <a:latin typeface="Consolas"/>
                <a:ea typeface="Consolas"/>
                <a:cs typeface="Consolas"/>
              </a:rPr>
              <a:t>collaborative | agent-ready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9E2E4E75-672D-43F6-A309-B90DEF1A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58650"/>
            <a:ext cx="4019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B7DDE4F-22E8-4847-98F8-553EEA94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1729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实现覆盖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7739B3BF-6CD4-48A4-926A-CFFD4E29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449175"/>
            <a:ext cx="3048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D07901AA-920C-4659-A788-4C1BE48B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2401550"/>
            <a:ext cx="3695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7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Search：电影标题、类型、语言、评分、排序、分页与详情面板。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892185D5-92FA-46C1-970F-0374C863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611100"/>
            <a:ext cx="3048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25DF69D-8E99-47EC-ABA4-FFC8B78C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2563475"/>
            <a:ext cx="3695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7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Recommend：三模式切换、种子电影推荐、Agent prompt、右侧详情复用。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5F34C2B2-9D62-43C5-9F09-458BC01A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773025"/>
            <a:ext cx="3048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B123EADB-D3A6-42FE-B9D3-FFF36CE3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2725400"/>
            <a:ext cx="3695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7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Atlas：summary、genre bars、budget trend、revenue-budget scatter、correlation matrix。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29729638-C3B5-47AD-90E3-A887A15E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34950"/>
            <a:ext cx="3048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6C9BBDC-2E57-4E9C-819F-632461DB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2887325"/>
            <a:ext cx="3695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7" b="0">
                <a:solidFill>
                  <a:srgbClr val="23262A"/>
                </a:solidFill>
                <a:latin typeface="Microsoft YaHei"/>
                <a:ea typeface="Microsoft YaHei"/>
                <a:cs typeface="Microsoft YaHei"/>
              </a:rPr>
              <a:t>RAG/Agent：项目资料检索；项目问答与自然语言推荐共享 Planner 和 DeepSeek client。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E713ECD1-8883-45C7-9D58-62DBC007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63550"/>
            <a:ext cx="842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47483822-61E3-460B-93D0-1C2FC072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9690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85" b="0">
                <a:solidFill>
                  <a:srgbClr val="5E6672"/>
                </a:solidFill>
                <a:latin typeface="Times New Roman"/>
                <a:ea typeface="Times New Roman"/>
                <a:cs typeface="Times New Roman"/>
              </a:rPr>
              <a:t>Course project poster · CineScope</a:t>
            </a:r>
          </a:p>
        </p:txBody>
      </p:sp>
    </p:spTree>
    <p:extLst>
      <p:ext uri="{BB962C8B-B14F-4D97-AF65-F5344CB8AC3E}">
        <p14:creationId xmlns:p14="http://schemas.microsoft.com/office/powerpoint/2010/main" val="1819245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2026-06-13T06:22:58.7360000Z</dcterms:created>
  <dcterms:modified xsi:type="dcterms:W3CDTF">2026-06-13T06:22:58.7360000Z</dcterms:modified>
</coreProperties>
</file>